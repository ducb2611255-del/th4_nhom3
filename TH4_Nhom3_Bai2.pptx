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heme/theme2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46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1198810" y="6396315"/>
            <a:ext cx="3960000" cy="31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Giới thiệu Đại học Cần Thơ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en-US" smtClean="0"/>
              <a:t>09/10/2026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vi-VN" altLang="en-US" dirty="0"/>
              <a:t>-</a:t>
            </a:r>
            <a:r>
              <a:rPr lang="en-US" dirty="0"/>
              <a:t>Second level</a:t>
            </a:r>
          </a:p>
          <a:p>
            <a:pPr lvl="2"/>
            <a:r>
              <a:rPr lang="vi-VN" altLang="en-US" dirty="0"/>
              <a:t>+</a:t>
            </a:r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</a:t>
            </a:r>
            <a:r>
              <a:rPr lang="vi-VN" altLang="en-US" dirty="0"/>
              <a:t>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608260" y="624963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1" baseline="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 dirty="0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200" b="1" u="none" strike="noStrike" kern="1200" cap="none" spc="300" normalizeH="0" baseline="0">
          <a:solidFill>
            <a:schemeClr val="tx1"/>
          </a:solidFill>
          <a:uFillTx/>
          <a:latin typeface="Times New Roman" panose="02020603050405020304" charset="0"/>
          <a:ea typeface="+mj-ea"/>
          <a:cs typeface="Times New Roman" panose="020206030504050203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Times New Roman" panose="02020603050405020304" charset="0"/>
          <a:ea typeface="+mn-ea"/>
          <a:cs typeface="Times New Roman" panose="02020603050405020304" charset="0"/>
        </a:defRPr>
      </a:lvl1pPr>
      <a:lvl2pPr marL="4572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Times New Roman" panose="02020603050405020304" charset="0"/>
          <a:ea typeface="+mn-ea"/>
          <a:cs typeface="Times New Roman" panose="02020603050405020304" charset="0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u="none" strike="noStrike" kern="1200" cap="none" spc="150" normalizeH="0" baseline="0">
          <a:solidFill>
            <a:schemeClr val="tx1"/>
          </a:solidFill>
          <a:uFillTx/>
          <a:latin typeface="Times New Roman" panose="02020603050405020304" charset="0"/>
          <a:ea typeface="+mn-ea"/>
          <a:cs typeface="Times New Roman" panose="02020603050405020304" charset="0"/>
        </a:defRPr>
      </a:lvl3pPr>
      <a:lvl4pPr marL="1714500" indent="-3429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§"/>
        <a:defRPr sz="2200" u="none" strike="noStrike" kern="1200" cap="none" spc="150" normalizeH="0" baseline="0">
          <a:solidFill>
            <a:schemeClr val="tx1"/>
          </a:solidFill>
          <a:uFillTx/>
          <a:latin typeface="Times New Roman" panose="02020603050405020304" charset="0"/>
          <a:ea typeface="+mn-ea"/>
          <a:cs typeface="Times New Roman" panose="020206030504050203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ü"/>
        <a:defRPr sz="2000" u="none" strike="noStrike" kern="1200" cap="none" spc="150" normalizeH="0" baseline="0">
          <a:solidFill>
            <a:schemeClr val="tx1"/>
          </a:solidFill>
          <a:uFillTx/>
          <a:latin typeface="Times New Roman" panose="02020603050405020304" charset="0"/>
          <a:ea typeface="+mn-ea"/>
          <a:cs typeface="Times New Roman" panose="02020603050405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hyperlink" Target="http://www.cit.ctu.edu.vn/" TargetMode="Externa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vi-VN" altLang="en-US" sz="3555">
                <a:sym typeface="+mn-ea"/>
              </a:rPr>
              <a:t>ĐẠI HỌC CẦN THƠ-QUÁ TRÌNH HÌNH THÀNH VÀ PHÁT TRIỂN </a:t>
            </a:r>
            <a:r>
              <a:rPr lang="vi-VN" altLang="en-US" sz="3555" b="0">
                <a:sym typeface="+mn-ea"/>
              </a:rPr>
              <a:t> </a:t>
            </a:r>
            <a:endParaRPr lang="en-US" altLang="en-US" sz="3555" b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/>
              <a:t>TS.Nguyễn Văn 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5885" y="6314400"/>
            <a:ext cx="3960000" cy="3168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NỘI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vi-VN" altLang="en-US">
                <a:sym typeface="+mn-ea"/>
              </a:rPr>
              <a:t>THỜI KÌ ĐẠI HỌC CẦN THƠ (1966-1975)</a:t>
            </a:r>
            <a:endParaRPr lang="vi-VN" altLang="en-US"/>
          </a:p>
          <a:p>
            <a:pPr>
              <a:buFont typeface="Arial" panose="020B0604020202020204" pitchFamily="34" charset="0"/>
              <a:buChar char="•"/>
            </a:pPr>
            <a:r>
              <a:rPr lang="vi-VN" altLang="en-US">
                <a:sym typeface="+mn-ea"/>
              </a:rPr>
              <a:t>ĐẠI HỌC CẦN THƠ SAU 1975</a:t>
            </a:r>
            <a:endParaRPr lang="vi-VN" alt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8260" y="6314400"/>
            <a:ext cx="3960000" cy="316800"/>
          </a:xfrm>
        </p:spPr>
        <p:txBody>
          <a:bodyPr>
            <a:no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THỜI KÌ VIỆN ĐẠI HỌC CẦN (1966-1975)</a:t>
            </a:r>
            <a:r>
              <a:rPr lang="vi-VN" altLang="en-US" u="heavy">
                <a:sym typeface="+mn-ea"/>
              </a:rPr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 smtClean="0">
                <a:sym typeface="+mn-ea"/>
              </a:rPr>
              <a:t>ĐƯỢC THÀNH LẬP NGÀY 31 THÁNG 03 NĂM 1966</a:t>
            </a:r>
            <a:endParaRPr lang="vi-VN" altLang="en-US" smtClean="0"/>
          </a:p>
          <a:p>
            <a:r>
              <a:rPr lang="vi-VN" altLang="en-US" smtClean="0">
                <a:sym typeface="+mn-ea"/>
              </a:rPr>
              <a:t>VIỆN ĐẠI HỌC CẦN THƠ CÓ 4 KHOA</a:t>
            </a:r>
          </a:p>
          <a:p>
            <a:pPr lvl="1">
              <a:buFont typeface="Arial" panose="020B0604020202020204" pitchFamily="34" charset="0"/>
            </a:pPr>
            <a:r>
              <a:rPr lang="vi-VN" altLang="en-US" smtClean="0">
                <a:solidFill>
                  <a:schemeClr val="tx1"/>
                </a:solidFill>
              </a:rPr>
              <a:t>- </a:t>
            </a:r>
            <a:r>
              <a:rPr lang="vi-VN" altLang="en-US">
                <a:solidFill>
                  <a:schemeClr val="tx1"/>
                </a:solidFill>
              </a:rPr>
              <a:t>KHOA HỌC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LUẬT KHOA 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KHOA HỌC XÃ HỘI, VĂN KHOA, SƯ PHẠM</a:t>
            </a:r>
            <a:endParaRPr lang="vi-VN" altLang="en-US" u="heavy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CAO ĐẲNG NÔNG VÀ TRUNG TÂM SINH NGỮ</a:t>
            </a:r>
            <a:r>
              <a:rPr lang="vi-VN" altLang="en-US" u="heavy">
                <a:solidFill>
                  <a:schemeClr val="tx1"/>
                </a:solidFill>
              </a:rPr>
              <a:t> </a:t>
            </a:r>
            <a:endParaRPr lang="vi-VN" altLang="en-US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4180" y="6314400"/>
            <a:ext cx="3960000" cy="316800"/>
          </a:xfrm>
        </p:spPr>
        <p:txBody>
          <a:bodyPr>
            <a:no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vi-VN" altLang="en-US"/>
              <a:t>THỜI KÌ HỌC VIỆN ĐẠI HỌC CẦN THƠ(1966-1975)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/>
              <a:t>CƠ SỞ VẬT CHẤT CỦA VIỆN ĐẠI CẦN THƠ TỌA LẠC TRÊN 4 ĐỊA ĐIỂM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</a:t>
            </a:r>
            <a:r>
              <a:rPr lang="vi-VN" altLang="en-US" sz="3200">
                <a:solidFill>
                  <a:schemeClr val="tx1"/>
                </a:solidFill>
              </a:rPr>
              <a:t> </a:t>
            </a:r>
            <a:r>
              <a:rPr lang="vi-VN" altLang="en-US">
                <a:solidFill>
                  <a:schemeClr val="tx1"/>
                </a:solidFill>
              </a:rPr>
              <a:t>TÒA VIỆN TRƯỞNG(SỐ 5, ĐẠI LỘ HÒA BÌNH)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KHU I (ĐƯỜNG 30/4)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KHU II (ĐƯỜNG 3/2)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KHU III (SỐ 1&lt; LÝ TỰ TRỌNG)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/>
              <a:t>ĐHCT GIAI ĐOẠN SAU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/>
              <a:t>VIỆN ĐẠI HỌC CẦN THƠ ĐƯỢC BỒI THÀNH ĐHCT</a:t>
            </a:r>
          </a:p>
          <a:p>
            <a:r>
              <a:rPr lang="vi-VN" altLang="en-US"/>
              <a:t>CƠ CẤU ĐHCT HIỆN NAY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KHOA - VIỆN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TRUNG TÂM -TRUNG TÂM ĐÀO TẠO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PHÒNG BAN CHỨC NĂNG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ĐOÀN THỂ &amp; HỘI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 b="1">
                <a:solidFill>
                  <a:srgbClr val="FF0000"/>
                </a:solidFill>
              </a:rPr>
              <a:t>KHOA KHOA HỌC TỰ NHIÊN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NGÀY 14/1/1998, TRƯỜNG ĐHCT KHÁNH THÀNH KHOA KHOA TỰ NHIÊN 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CƠ SỞ VẬT CHẤT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+ 12 PHÒNG THÍ NGHIỆM(PTN) CHO SINH, HÓA, VẬT LÝ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+ 06 PHÒNG M</a:t>
            </a:r>
            <a:r>
              <a:rPr lang="vi-VN" altLang="en-US" u="heavy">
                <a:solidFill>
                  <a:schemeClr val="tx1"/>
                </a:solidFill>
              </a:rPr>
              <a:t>Á</a:t>
            </a:r>
            <a:r>
              <a:rPr lang="vi-VN" altLang="en-US">
                <a:solidFill>
                  <a:schemeClr val="tx1"/>
                </a:solidFill>
              </a:rPr>
              <a:t>Y TÍNH ĐƯỢC NỐI MẠNG VỚI NHAU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 b="1">
                <a:solidFill>
                  <a:srgbClr val="FF0000"/>
                </a:solidFill>
                <a:sym typeface="+mn-ea"/>
              </a:rPr>
              <a:t>KHOA KHOA HỌC TỰ NHIÊN</a:t>
            </a:r>
          </a:p>
          <a:p>
            <a:pPr marL="0" lvl="1">
              <a:buFont typeface="Arial" panose="020B0604020202020204" pitchFamily="34" charset="0"/>
            </a:pPr>
            <a:r>
              <a:rPr lang="vi-VN" altLang="en-US" sz="3200">
                <a:sym typeface="+mn-ea"/>
              </a:rPr>
              <a:t>  - </a:t>
            </a:r>
            <a:r>
              <a:rPr lang="vi-VN" altLang="en-US">
                <a:sym typeface="+mn-ea"/>
              </a:rPr>
              <a:t>CƠ SỞ VẬT CHẤT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VP KHOA VÀ XƯỞNG SỮA CHỮA</a:t>
            </a:r>
            <a:endParaRPr lang="vi-VN" altLang="en-US" sz="32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vi-VN" altLang="en-US" sz="2400">
                <a:solidFill>
                  <a:schemeClr val="tx1"/>
                </a:solidFill>
              </a:rPr>
              <a:t>+ NĂM 2010, XƯỞNG ĐÃ ĐẦU TƯ MỞ RỘNG KHU PTN CỦA KHOA</a:t>
            </a:r>
          </a:p>
          <a:p>
            <a:pPr lvl="1">
              <a:buFont typeface="Arial" panose="020B0604020202020204" pitchFamily="34" charset="0"/>
            </a:pPr>
            <a:r>
              <a:rPr lang="vi-VN" altLang="en-US" sz="2400">
                <a:solidFill>
                  <a:schemeClr val="tx1"/>
                </a:solidFill>
              </a:rPr>
              <a:t>+ XÂY MỚI KHU NHÀ 3 VỚI 22 PHÒNG</a:t>
            </a:r>
            <a:r>
              <a:rPr lang="vi-VN" altLang="en-US" sz="2400" u="heavy">
                <a:solidFill>
                  <a:schemeClr val="tx1"/>
                </a:solidFill>
              </a:rPr>
              <a:t> </a:t>
            </a:r>
            <a:r>
              <a:rPr lang="vi-VN" altLang="en-US" sz="2400" u="heavy">
                <a:solidFill>
                  <a:srgbClr val="FF0000"/>
                </a:solidFill>
              </a:rPr>
              <a:t> </a:t>
            </a:r>
            <a:endParaRPr lang="vi-VN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altLang="en-US" sz="240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>
                <a:solidFill>
                  <a:srgbClr val="FF0000"/>
                </a:solidFill>
              </a:rPr>
              <a:t>KHOA KHOA TỰ NHIÊN</a:t>
            </a:r>
          </a:p>
          <a:p>
            <a:pPr lvl="1">
              <a:buFont typeface="Arial" panose="020B0604020202020204" pitchFamily="34" charset="0"/>
            </a:pPr>
            <a:r>
              <a:rPr lang="vi-VN" altLang="en-US" sz="3200">
                <a:solidFill>
                  <a:schemeClr val="tx1"/>
                </a:solidFill>
              </a:rPr>
              <a:t>- </a:t>
            </a:r>
            <a:r>
              <a:rPr lang="vi-VN" altLang="en-US">
                <a:solidFill>
                  <a:schemeClr val="tx1"/>
                </a:solidFill>
              </a:rPr>
              <a:t>KHOA KHTN HIỆN NAY GỒM 4 BỘ MÔN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SINH HỌC 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HÓA HỌC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TOÁN HỌC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VẬT LÝ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vi-VN" altLang="en-US" baseline="-2500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>
                <a:solidFill>
                  <a:srgbClr val="FF0000"/>
                </a:solidFill>
              </a:rPr>
              <a:t>KHOA KHOA HỌC TƯ NHIÊN</a:t>
            </a:r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</a:t>
            </a:r>
            <a:r>
              <a:rPr lang="vi-VN" altLang="en-US" sz="3200">
                <a:solidFill>
                  <a:schemeClr val="tx1"/>
                </a:solidFill>
              </a:rPr>
              <a:t> </a:t>
            </a:r>
            <a:r>
              <a:rPr lang="vi-VN" altLang="en-US">
                <a:solidFill>
                  <a:schemeClr val="tx1"/>
                </a:solidFill>
              </a:rPr>
              <a:t>CÔNG TÁC ĐÀO TẠO</a:t>
            </a:r>
            <a:endParaRPr lang="vi-VN" altLang="en-US" sz="3200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ĐẠI HỌC: ....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SĐH: ...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-</a:t>
            </a:r>
            <a:r>
              <a:rPr lang="vi-VN" altLang="en-US" sz="3200">
                <a:solidFill>
                  <a:schemeClr val="tx1"/>
                </a:solidFill>
              </a:rPr>
              <a:t> </a:t>
            </a:r>
            <a:r>
              <a:rPr lang="vi-VN" altLang="en-US">
                <a:solidFill>
                  <a:schemeClr val="tx1"/>
                </a:solidFill>
              </a:rPr>
              <a:t>CÔNG TÁC NCKH, BÁO CÁO CHUYÊN ĐỀ: ...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- CÔNG TÁC ĐÀO TẠO VÀ BỒI DƯỠNG CÁN BỘ: 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>
                <a:hlinkClick r:id="rId5"/>
              </a:rPr>
              <a:t>KHOA CNTT &amp; </a:t>
            </a:r>
            <a:r>
              <a:rPr lang="vi-VN" altLang="en-US" u="heavy">
                <a:hlinkClick r:id="rId5"/>
              </a:rPr>
              <a:t>TT</a:t>
            </a:r>
            <a:endParaRPr lang="vi-VN" altLang="en-US" u="heavy"/>
          </a:p>
          <a:p>
            <a:pPr lvl="1">
              <a:buFont typeface="Arial" panose="020B0604020202020204" pitchFamily="34" charset="0"/>
            </a:pPr>
            <a:r>
              <a:rPr lang="vi-VN" altLang="en-US" sz="2800">
                <a:solidFill>
                  <a:schemeClr val="tx1"/>
                </a:solidFill>
              </a:rPr>
              <a:t>- ĐƯỢC THÀNH LẬP NĂM 1994 TRÊN CƠ SỞ TRUNG TÂM ĐIỆN TỬ VÀ TIN HỌC</a:t>
            </a:r>
          </a:p>
          <a:p>
            <a:pPr lvl="1">
              <a:buFont typeface="Arial" panose="020B0604020202020204" pitchFamily="34" charset="0"/>
            </a:pPr>
            <a:r>
              <a:rPr lang="vi-VN" altLang="en-US" sz="2800">
                <a:solidFill>
                  <a:schemeClr val="tx1"/>
                </a:solidFill>
              </a:rPr>
              <a:t>- NHIỆM VỤ CỦA KHOA LÀ ĐÀO TẠO</a:t>
            </a:r>
            <a:endParaRPr lang="vi-VN" altLang="en-US" sz="28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ĐẠI HỌC VÀ SAU ĐẠI HỌC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NCKH VÀ CHUYỂN GIAO CÔNG NGHỆN TRONG LĨNH VỰC CNTT &amp; TT</a:t>
            </a:r>
            <a:r>
              <a:rPr lang="vi-VN" altLang="en-US" u="heavy">
                <a:solidFill>
                  <a:schemeClr val="tx1"/>
                </a:solidFill>
              </a:rPr>
              <a:t> 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vi-VN" altLang="en-US" sz="2800">
              <a:solidFill>
                <a:schemeClr val="tx1"/>
              </a:solidFill>
            </a:endParaRPr>
          </a:p>
          <a:p>
            <a:endParaRPr lang="vi-VN" altLang="en-US" sz="280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 sz="3200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altLang="en-US"/>
          </a:p>
          <a:p>
            <a:pPr lvl="1">
              <a:buFont typeface="Arial" panose="020B0604020202020204" pitchFamily="34" charset="0"/>
            </a:pPr>
            <a:r>
              <a:rPr lang="vi-VN" altLang="en-US" sz="3200">
                <a:solidFill>
                  <a:schemeClr val="tx1"/>
                </a:solidFill>
              </a:rPr>
              <a:t>- </a:t>
            </a:r>
            <a:r>
              <a:rPr lang="vi-VN" altLang="en-US">
                <a:solidFill>
                  <a:schemeClr val="tx1"/>
                </a:solidFill>
              </a:rPr>
              <a:t>TẦM NHÌN ĐẾN NĂM 2020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ĐƠN VỊ ĐÀO TẠO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NGHIÊN CỨU KHOAN HỌC VỀ CNTT&amp;TT MẠNH CỦA CẢ NƯỚC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 sz="3200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altLang="en-US"/>
          </a:p>
          <a:p>
            <a:pPr lvl="1">
              <a:buFont typeface="Arial" panose="020B0604020202020204" pitchFamily="34" charset="0"/>
            </a:pPr>
            <a:r>
              <a:rPr lang="vi-VN" altLang="en-US" sz="3200">
                <a:solidFill>
                  <a:schemeClr val="tx1"/>
                </a:solidFill>
              </a:rPr>
              <a:t>- </a:t>
            </a:r>
            <a:r>
              <a:rPr lang="vi-VN" altLang="en-US">
                <a:solidFill>
                  <a:schemeClr val="tx1"/>
                </a:solidFill>
              </a:rPr>
              <a:t>CÁC BỘ MÔN VÀ TRUNG TÂM</a:t>
            </a:r>
            <a:endParaRPr lang="vi-VN" altLang="en-US" sz="3200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HỆ THỐNG THÔNG TIN</a:t>
            </a:r>
            <a:endParaRPr lang="vi-VN" altLang="en-US" u="heavy">
              <a:solidFill>
                <a:schemeClr val="tx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DẠNG MÁY TÍNH &amp; TRUYỀN THÔNG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CÔNG NGHỆ PHẦN MỀM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KHOA HỌC PHẦN MỀM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vi-VN" altLang="en-US">
                <a:sym typeface="+mn-ea"/>
              </a:rPr>
              <a:t>ĐHCT GIAI ĐOẠN SAU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vi-VN" altLang="en-US">
                <a:solidFill>
                  <a:schemeClr val="accent1">
                    <a:lumMod val="75000"/>
                  </a:schemeClr>
                </a:solidFill>
              </a:rPr>
              <a:t>KHOA CNTT &amp; TT</a:t>
            </a:r>
            <a:endParaRPr lang="vi-VN" altLang="en-US"/>
          </a:p>
          <a:p>
            <a:pPr lvl="1">
              <a:buFont typeface="Arial" panose="020B0604020202020204" pitchFamily="34" charset="0"/>
            </a:pPr>
            <a:r>
              <a:rPr lang="vi-VN" altLang="en-US">
                <a:solidFill>
                  <a:schemeClr val="tx1"/>
                </a:solidFill>
              </a:rPr>
              <a:t>- CÁC BỘ MÔN VÀTRUNG TÂM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CÔNG NGHỆ THÔNG TIN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BỘ MÔN TIN HỌC ỨNG DỤNG 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TỔ VĂN PHÒNG 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vi-VN" altLang="en-US">
                <a:solidFill>
                  <a:schemeClr val="tx1"/>
                </a:solidFill>
              </a:rPr>
              <a:t>+ TRUNG TÂM ĐIỆN TỬ &amp; TIN HỌC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646045"/>
            <a:ext cx="10968990" cy="2907665"/>
          </a:xfrm>
        </p:spPr>
        <p:txBody>
          <a:bodyPr/>
          <a:lstStyle/>
          <a:p>
            <a:pPr marL="0" indent="0" algn="ctr">
              <a:lnSpc>
                <a:spcPct val="300000"/>
              </a:lnSpc>
              <a:buNone/>
            </a:pPr>
            <a:r>
              <a:rPr lang="vi-VN" altLang="en-US"/>
              <a:t>     </a:t>
            </a:r>
            <a:r>
              <a:rPr lang="vi-VN" altLang="en-US" b="1"/>
              <a:t>CẢM ƠN SỰ CHÚ Ý CỦA QUÝ VỊ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628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WPS</vt:lpstr>
      <vt:lpstr>ĐẠI HỌC CẦN THƠ-QUÁ TRÌNH HÌNH THÀNH VÀ PHÁT TRIỂN  </vt:lpstr>
      <vt:lpstr>NỘI DUNG</vt:lpstr>
      <vt:lpstr>THỜI KÌ VIỆN ĐẠI HỌC CẦN (1966-1975) </vt:lpstr>
      <vt:lpstr>THỜI KÌ HỌC VIỆN ĐẠI HỌC CẦN THƠ(1966-1975)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ĐHCT GIAI ĐOẠN SAU 1975</vt:lpstr>
      <vt:lpstr>PowerPoint Presentation</vt:lpstr>
      <vt:lpstr>KHTN</vt:lpstr>
      <vt:lpstr>CNTT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VICTUS</dc:creator>
  <cp:lastModifiedBy>student</cp:lastModifiedBy>
  <cp:revision>11</cp:revision>
  <dcterms:created xsi:type="dcterms:W3CDTF">2026-10-08T14:31:24Z</dcterms:created>
  <dcterms:modified xsi:type="dcterms:W3CDTF">2026-10-09T00:39:44Z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B5D25AB1FA674C0C9C1AE5D1077A9843_11</vt:lpwstr>
  </property>
</Properties>
</file>